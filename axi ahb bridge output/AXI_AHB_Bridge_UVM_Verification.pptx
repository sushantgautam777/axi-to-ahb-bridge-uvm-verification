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HANT GAUTAM" userId="76c16e1df45ce1b0" providerId="LiveId" clId="{DB0E5B84-5127-4CF4-8A72-F074BD4DC742}"/>
    <pc:docChg chg="undo custSel modSld">
      <pc:chgData name="SUSHANT GAUTAM" userId="76c16e1df45ce1b0" providerId="LiveId" clId="{DB0E5B84-5127-4CF4-8A72-F074BD4DC742}" dt="2026-05-31T17:49:20.590" v="49" actId="20577"/>
      <pc:docMkLst>
        <pc:docMk/>
      </pc:docMkLst>
      <pc:sldChg chg="modSp mod">
        <pc:chgData name="SUSHANT GAUTAM" userId="76c16e1df45ce1b0" providerId="LiveId" clId="{DB0E5B84-5127-4CF4-8A72-F074BD4DC742}" dt="2026-05-31T17:49:20.590" v="49" actId="20577"/>
        <pc:sldMkLst>
          <pc:docMk/>
          <pc:sldMk cId="0" sldId="256"/>
        </pc:sldMkLst>
        <pc:spChg chg="mod">
          <ac:chgData name="SUSHANT GAUTAM" userId="76c16e1df45ce1b0" providerId="LiveId" clId="{DB0E5B84-5127-4CF4-8A72-F074BD4DC742}" dt="2026-05-31T17:49:20.590" v="49" actId="20577"/>
          <ac:spMkLst>
            <pc:docMk/>
            <pc:sldMk cId="0" sldId="256"/>
            <ac:spMk id="18" creationId="{00000000-0000-0000-0000-000000000000}"/>
          </ac:spMkLst>
        </pc:spChg>
      </pc:sldChg>
      <pc:sldChg chg="addSp delSp modSp mod">
        <pc:chgData name="SUSHANT GAUTAM" userId="76c16e1df45ce1b0" providerId="LiveId" clId="{DB0E5B84-5127-4CF4-8A72-F074BD4DC742}" dt="2026-05-31T04:25:33.983" v="48" actId="14100"/>
        <pc:sldMkLst>
          <pc:docMk/>
          <pc:sldMk cId="0" sldId="262"/>
        </pc:sldMkLst>
        <pc:spChg chg="mod">
          <ac:chgData name="SUSHANT GAUTAM" userId="76c16e1df45ce1b0" providerId="LiveId" clId="{DB0E5B84-5127-4CF4-8A72-F074BD4DC742}" dt="2026-05-31T04:25:19.958" v="43" actId="14100"/>
          <ac:spMkLst>
            <pc:docMk/>
            <pc:sldMk cId="0" sldId="262"/>
            <ac:spMk id="3" creationId="{00000000-0000-0000-0000-000000000000}"/>
          </ac:spMkLst>
        </pc:spChg>
        <pc:spChg chg="mod">
          <ac:chgData name="SUSHANT GAUTAM" userId="76c16e1df45ce1b0" providerId="LiveId" clId="{DB0E5B84-5127-4CF4-8A72-F074BD4DC742}" dt="2026-05-31T04:25:27.135" v="47" actId="20577"/>
          <ac:spMkLst>
            <pc:docMk/>
            <pc:sldMk cId="0" sldId="262"/>
            <ac:spMk id="4" creationId="{00000000-0000-0000-0000-000000000000}"/>
          </ac:spMkLst>
        </pc:spChg>
        <pc:spChg chg="del">
          <ac:chgData name="SUSHANT GAUTAM" userId="76c16e1df45ce1b0" providerId="LiveId" clId="{DB0E5B84-5127-4CF4-8A72-F074BD4DC742}" dt="2026-05-31T04:24:08.332" v="0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SUSHANT GAUTAM" userId="76c16e1df45ce1b0" providerId="LiveId" clId="{DB0E5B84-5127-4CF4-8A72-F074BD4DC742}" dt="2026-05-31T04:24:08.332" v="0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SUSHANT GAUTAM" userId="76c16e1df45ce1b0" providerId="LiveId" clId="{DB0E5B84-5127-4CF4-8A72-F074BD4DC742}" dt="2026-05-31T04:24:08.332" v="0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SUSHANT GAUTAM" userId="76c16e1df45ce1b0" providerId="LiveId" clId="{DB0E5B84-5127-4CF4-8A72-F074BD4DC742}" dt="2026-05-31T04:24:08.332" v="0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SUSHANT GAUTAM" userId="76c16e1df45ce1b0" providerId="LiveId" clId="{DB0E5B84-5127-4CF4-8A72-F074BD4DC742}" dt="2026-05-31T04:24:08.332" v="0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SUSHANT GAUTAM" userId="76c16e1df45ce1b0" providerId="LiveId" clId="{DB0E5B84-5127-4CF4-8A72-F074BD4DC742}" dt="2026-05-31T04:24:08.332" v="0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SUSHANT GAUTAM" userId="76c16e1df45ce1b0" providerId="LiveId" clId="{DB0E5B84-5127-4CF4-8A72-F074BD4DC742}" dt="2026-05-31T04:24:08.332" v="0" actId="478"/>
          <ac:spMkLst>
            <pc:docMk/>
            <pc:sldMk cId="0" sldId="262"/>
            <ac:spMk id="24" creationId="{00000000-0000-0000-0000-000000000000}"/>
          </ac:spMkLst>
        </pc:spChg>
        <pc:spChg chg="del">
          <ac:chgData name="SUSHANT GAUTAM" userId="76c16e1df45ce1b0" providerId="LiveId" clId="{DB0E5B84-5127-4CF4-8A72-F074BD4DC742}" dt="2026-05-31T04:24:08.332" v="0" actId="478"/>
          <ac:spMkLst>
            <pc:docMk/>
            <pc:sldMk cId="0" sldId="262"/>
            <ac:spMk id="25" creationId="{00000000-0000-0000-0000-000000000000}"/>
          </ac:spMkLst>
        </pc:spChg>
        <pc:spChg chg="del">
          <ac:chgData name="SUSHANT GAUTAM" userId="76c16e1df45ce1b0" providerId="LiveId" clId="{DB0E5B84-5127-4CF4-8A72-F074BD4DC742}" dt="2026-05-31T04:24:08.332" v="0" actId="478"/>
          <ac:spMkLst>
            <pc:docMk/>
            <pc:sldMk cId="0" sldId="262"/>
            <ac:spMk id="27" creationId="{00000000-0000-0000-0000-000000000000}"/>
          </ac:spMkLst>
        </pc:spChg>
        <pc:spChg chg="del">
          <ac:chgData name="SUSHANT GAUTAM" userId="76c16e1df45ce1b0" providerId="LiveId" clId="{DB0E5B84-5127-4CF4-8A72-F074BD4DC742}" dt="2026-05-31T04:24:08.332" v="0" actId="478"/>
          <ac:spMkLst>
            <pc:docMk/>
            <pc:sldMk cId="0" sldId="262"/>
            <ac:spMk id="28" creationId="{00000000-0000-0000-0000-000000000000}"/>
          </ac:spMkLst>
        </pc:spChg>
        <pc:picChg chg="add mod">
          <ac:chgData name="SUSHANT GAUTAM" userId="76c16e1df45ce1b0" providerId="LiveId" clId="{DB0E5B84-5127-4CF4-8A72-F074BD4DC742}" dt="2026-05-31T04:25:33.983" v="48" actId="14100"/>
          <ac:picMkLst>
            <pc:docMk/>
            <pc:sldMk cId="0" sldId="262"/>
            <ac:picMk id="31" creationId="{2CE22A17-06A0-C31F-5529-30DE2EDD137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604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20040" y="4389120"/>
            <a:ext cx="8823960" cy="7543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8640" y="274320"/>
            <a:ext cx="73152" cy="73152"/>
          </a:xfrm>
          <a:prstGeom prst="ellipse">
            <a:avLst/>
          </a:prstGeom>
          <a:solidFill>
            <a:srgbClr val="00A8E8">
              <a:alpha val="40000"/>
            </a:srgbClr>
          </a:solidFill>
          <a:ln w="12700">
            <a:solidFill>
              <a:srgbClr val="00A8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54480" y="274320"/>
            <a:ext cx="73152" cy="73152"/>
          </a:xfrm>
          <a:prstGeom prst="ellipse">
            <a:avLst/>
          </a:prstGeom>
          <a:solidFill>
            <a:srgbClr val="00A8E8">
              <a:alpha val="40000"/>
            </a:srgbClr>
          </a:solidFill>
          <a:ln w="12700">
            <a:solidFill>
              <a:srgbClr val="00A8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0" y="274320"/>
            <a:ext cx="73152" cy="73152"/>
          </a:xfrm>
          <a:prstGeom prst="ellipse">
            <a:avLst/>
          </a:prstGeom>
          <a:solidFill>
            <a:srgbClr val="00A8E8">
              <a:alpha val="40000"/>
            </a:srgbClr>
          </a:solidFill>
          <a:ln w="12700">
            <a:solidFill>
              <a:srgbClr val="00A8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566160" y="274320"/>
            <a:ext cx="73152" cy="73152"/>
          </a:xfrm>
          <a:prstGeom prst="ellipse">
            <a:avLst/>
          </a:prstGeom>
          <a:solidFill>
            <a:srgbClr val="00A8E8">
              <a:alpha val="40000"/>
            </a:srgbClr>
          </a:solidFill>
          <a:ln w="12700">
            <a:solidFill>
              <a:srgbClr val="00A8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0" y="274320"/>
            <a:ext cx="73152" cy="73152"/>
          </a:xfrm>
          <a:prstGeom prst="ellipse">
            <a:avLst/>
          </a:prstGeom>
          <a:solidFill>
            <a:srgbClr val="00A8E8">
              <a:alpha val="40000"/>
            </a:srgbClr>
          </a:solidFill>
          <a:ln w="12700">
            <a:solidFill>
              <a:srgbClr val="00A8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577840" y="274320"/>
            <a:ext cx="73152" cy="73152"/>
          </a:xfrm>
          <a:prstGeom prst="ellipse">
            <a:avLst/>
          </a:prstGeom>
          <a:solidFill>
            <a:srgbClr val="00A8E8">
              <a:alpha val="40000"/>
            </a:srgbClr>
          </a:solidFill>
          <a:ln w="12700">
            <a:solidFill>
              <a:srgbClr val="00A8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583680" y="274320"/>
            <a:ext cx="73152" cy="73152"/>
          </a:xfrm>
          <a:prstGeom prst="ellipse">
            <a:avLst/>
          </a:prstGeom>
          <a:solidFill>
            <a:srgbClr val="00A8E8">
              <a:alpha val="40000"/>
            </a:srgbClr>
          </a:solidFill>
          <a:ln w="12700">
            <a:solidFill>
              <a:srgbClr val="00A8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589520" y="274320"/>
            <a:ext cx="73152" cy="73152"/>
          </a:xfrm>
          <a:prstGeom prst="ellipse">
            <a:avLst/>
          </a:prstGeom>
          <a:solidFill>
            <a:srgbClr val="00A8E8">
              <a:alpha val="40000"/>
            </a:srgbClr>
          </a:solidFill>
          <a:ln w="12700">
            <a:solidFill>
              <a:srgbClr val="00A8E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822960"/>
            <a:ext cx="8321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of AXI to AHB Bridge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" y="173736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UVM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41148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dirty="0">
              <a:solidFill>
                <a:srgbClr val="8898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000" dirty="0">
              <a:solidFill>
                <a:srgbClr val="8898A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Sushant Gautam</a:t>
            </a:r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</a:t>
            </a:r>
            <a:r>
              <a:rPr lang="en-US" sz="2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Based Functional Verification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 Protocol Verification | AXI → AHB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34747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Protocol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eXtensible Interface — high-performance AMBA bus used in complex SoCs for high throughput communication.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34747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1115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Protocol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High-performance Bus — simpler AMBA protocol ideal for peripheral and memory communication.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34747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2944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to AHB Bridge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33756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seamless communication between AXI masters and AHB slaves with proper protocol translation.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4114800" cy="34747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92040" y="29443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Goal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33756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correct conversion of AXI transactions into AHB transactions and validate protocol behavior across scenarios.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Protocol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698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Key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64592" cy="16459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15727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Read &amp; Write Channels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164592" cy="16459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2167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Address and Data Phases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164592" cy="16459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Transactions Support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164592" cy="16459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3355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Outstanding Transactions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64592" cy="16459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395020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Throughput Architecture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05156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572000" y="1051560"/>
            <a:ext cx="4297680" cy="347472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09160" y="10698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Channels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1572768"/>
            <a:ext cx="411480" cy="25603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709160" y="157276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15727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Address Channel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2167128"/>
            <a:ext cx="411480" cy="25603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709160" y="21671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21671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Data Channel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2761488"/>
            <a:ext cx="411480" cy="25603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709160" y="276148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27614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Response Channel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09160" y="3355848"/>
            <a:ext cx="411480" cy="25603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09160" y="335584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33558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Address Channel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9160" y="3950208"/>
            <a:ext cx="411480" cy="256032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09160" y="395020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080" y="395020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 Channel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Protocol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698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Key Features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164592" cy="16459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15727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Bus Architecture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164592" cy="16459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" y="20482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&amp; Data Phase Pipelining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51176"/>
            <a:ext cx="164592" cy="16459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2960" y="25237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Transfers Supported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26664"/>
            <a:ext cx="164592" cy="164592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29992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Protocol vs AXI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0" y="1051560"/>
            <a:ext cx="4297680" cy="347472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09160" y="10698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Signals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1463040"/>
            <a:ext cx="4206240" cy="438912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63440" y="148132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HADDR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52160" y="148132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Bus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1929384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63440" y="194767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HTRANS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194767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Type (IDLE/NONSEQ/SEQ)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17720" y="2395728"/>
            <a:ext cx="4206240" cy="438912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663440" y="241401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HWRITE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2414016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Direction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2862072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63440" y="288036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HWDATA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52160" y="2880360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Data Bus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17720" y="3328416"/>
            <a:ext cx="4206240" cy="438912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663440" y="334670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HRDATA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52160" y="3346704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Data Bus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3794760"/>
            <a:ext cx="4206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663440" y="381304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HREADY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52160" y="3813048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Complete Indicator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17720" y="4261104"/>
            <a:ext cx="4206240" cy="438912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663440" y="427939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HRESP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852160" y="4279392"/>
            <a:ext cx="2834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Response (OKAY/ERROR)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3520440"/>
            <a:ext cx="393192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292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vs AHB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2920" y="3858768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is feature-rich with separate channels for high performance. AHB offers simplicity with a shared bus suitable for peripherals.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to AHB Bridge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097280" y="1097280"/>
            <a:ext cx="2743200" cy="6400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97280" y="10972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Master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2194560"/>
            <a:ext cx="2743200" cy="64008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AXI2AHB Bridge (DUT)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3291840"/>
            <a:ext cx="2743200" cy="64008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Slave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77440" y="1737360"/>
            <a:ext cx="73152" cy="4572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377440" y="2834640"/>
            <a:ext cx="73152" cy="45720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194560" y="208483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94560" y="3182112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55555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105156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42976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09160" y="10698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Functions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1508760"/>
            <a:ext cx="411480" cy="411480"/>
          </a:xfrm>
          <a:prstGeom prst="rect">
            <a:avLst/>
          </a:prstGeom>
          <a:solidFill>
            <a:srgbClr val="EAF2FB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70916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E8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15087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Translation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170992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AXI addresses to AHB address space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148840"/>
            <a:ext cx="411480" cy="411480"/>
          </a:xfrm>
          <a:prstGeom prst="rect">
            <a:avLst/>
          </a:prstGeom>
          <a:solidFill>
            <a:srgbClr val="EAF2FB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0916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E8"/>
                </a:solidFill>
              </a:rPr>
              <a:t>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0" y="21488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Conversion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235000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data widths and formats between protocols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2788920"/>
            <a:ext cx="411480" cy="411480"/>
          </a:xfrm>
          <a:prstGeom prst="rect">
            <a:avLst/>
          </a:prstGeom>
          <a:solidFill>
            <a:srgbClr val="EAF2FB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70916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E8"/>
                </a:solidFill>
              </a:rPr>
              <a:t>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12080" y="27889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Conversion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29900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AHB HRESP to AXI BRESP/RRESP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3429000"/>
            <a:ext cx="411480" cy="411480"/>
          </a:xfrm>
          <a:prstGeom prst="rect">
            <a:avLst/>
          </a:prstGeom>
          <a:solidFill>
            <a:srgbClr val="EAF2FB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09160" y="3429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E8"/>
                </a:solidFill>
              </a:rPr>
              <a:t>▸▸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34290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Handling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363016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AXI bursts into sequential AHB transfers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4069080"/>
            <a:ext cx="411480" cy="411480"/>
          </a:xfrm>
          <a:prstGeom prst="rect">
            <a:avLst/>
          </a:prstGeom>
          <a:solidFill>
            <a:srgbClr val="EAF2FB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09160" y="4069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A8E8"/>
                </a:solidFill>
              </a:rPr>
              <a:t>⚡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212080" y="40690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Propagation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42702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Forwards error conditions across protocol boundary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73152" cy="5943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AXI Write Transactions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73152" cy="5943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9842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AXI Read Transactions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42616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2642616"/>
            <a:ext cx="73152" cy="5943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27340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Address Translation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92424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392424"/>
            <a:ext cx="73152" cy="5943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48640" y="348386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Data Translation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143000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846320" y="1143000"/>
            <a:ext cx="73152" cy="5943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0" y="12344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AHB Response Handling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892808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846320" y="1892808"/>
            <a:ext cx="73152" cy="5943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0" y="198424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Reset Functionality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642616"/>
            <a:ext cx="4206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46320" y="2642616"/>
            <a:ext cx="73152" cy="59436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29200" y="273405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Error Conditions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206240"/>
            <a:ext cx="850392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4251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Success Criteria: Expected AXI transactions must match actual AHB transactions observed at the output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1440" y="1"/>
            <a:ext cx="896112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3142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UVM Testbench Architecture</a:t>
            </a:r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2CE22A17-06A0-C31F-5529-30DE2EDD1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80" y="497166"/>
            <a:ext cx="9004720" cy="46463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Architectures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4114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69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Agent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3840480" cy="822960"/>
          </a:xfrm>
          <a:prstGeom prst="rect">
            <a:avLst/>
          </a:prstGeom>
          <a:solidFill>
            <a:srgbClr val="EAF2FB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Driver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sequence items and drives AXI signals on the interface.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33472"/>
            <a:ext cx="3840480" cy="822960"/>
          </a:xfrm>
          <a:prstGeom prst="rect">
            <a:avLst/>
          </a:prstGeom>
          <a:solidFill>
            <a:srgbClr val="EAF2FB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Monitor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AXI transactions and forwards them to the scoreboard.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3840480" cy="822960"/>
          </a:xfrm>
          <a:prstGeom prst="rect">
            <a:avLst/>
          </a:prstGeom>
          <a:solidFill>
            <a:srgbClr val="EAF2FB"/>
          </a:solidFill>
          <a:ln w="12700">
            <a:solidFill>
              <a:srgbClr val="C5D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36758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Sequencer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transaction flow from sequences to the driver.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114800" cy="41148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00600" y="1069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Agent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00600" y="1627632"/>
            <a:ext cx="3840480" cy="822960"/>
          </a:xfrm>
          <a:prstGeom prst="rect">
            <a:avLst/>
          </a:prstGeom>
          <a:solidFill>
            <a:srgbClr val="EDF7F4"/>
          </a:solidFill>
          <a:ln w="12700">
            <a:solidFill>
              <a:srgbClr val="B2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16642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Driver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AHB responses: OKAY, WAIT states, and ERROR responses.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633472"/>
            <a:ext cx="3840480" cy="822960"/>
          </a:xfrm>
          <a:prstGeom prst="rect">
            <a:avLst/>
          </a:prstGeom>
          <a:solidFill>
            <a:srgbClr val="EDF7F4"/>
          </a:solidFill>
          <a:ln w="12700">
            <a:solidFill>
              <a:srgbClr val="B2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37760" y="267004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Monitor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926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Observes actual AHB transactions on the bus interface.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639312"/>
            <a:ext cx="3840480" cy="822960"/>
          </a:xfrm>
          <a:prstGeom prst="rect">
            <a:avLst/>
          </a:prstGeom>
          <a:solidFill>
            <a:srgbClr val="EDF7F4"/>
          </a:solidFill>
          <a:ln w="12700">
            <a:solidFill>
              <a:srgbClr val="B2DDD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37760" y="36758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Sequencer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931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response sequences to simulate various slave behaviors.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&amp; Scoreboard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69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Sequencer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multiple agents and provides centralized control for complex test scenarios.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3840480" cy="402336"/>
          </a:xfrm>
          <a:prstGeom prst="rect">
            <a:avLst/>
          </a:prstGeom>
          <a:solidFill>
            <a:srgbClr val="EAF2FB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2920" y="2212848"/>
            <a:ext cx="73152" cy="40233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8368" y="22402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Reset Sequence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24912"/>
            <a:ext cx="3840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2724912"/>
            <a:ext cx="73152" cy="40233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8368" y="275234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AXI Write Sequence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236976"/>
            <a:ext cx="3840480" cy="402336"/>
          </a:xfrm>
          <a:prstGeom prst="rect">
            <a:avLst/>
          </a:prstGeom>
          <a:solidFill>
            <a:srgbClr val="EAF2FB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02920" y="3236976"/>
            <a:ext cx="73152" cy="40233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8368" y="326440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AXI Read Sequence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749040"/>
            <a:ext cx="38404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02920" y="3749040"/>
            <a:ext cx="73152" cy="40233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58368" y="377647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Error Response Sequence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261104"/>
            <a:ext cx="3840480" cy="402336"/>
          </a:xfrm>
          <a:prstGeom prst="rect">
            <a:avLst/>
          </a:prstGeom>
          <a:solidFill>
            <a:srgbClr val="EAF2FB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02920" y="4261104"/>
            <a:ext cx="73152" cy="40233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58368" y="428853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Wait State Sequence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105156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663440" y="1051560"/>
            <a:ext cx="4114800" cy="41148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800600" y="1069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00600" y="1572768"/>
            <a:ext cx="384048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00600" y="15727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Monitor → Expected Tx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20299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8AA"/>
                </a:solidFill>
              </a:rPr>
              <a:t>▼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00600" y="2231136"/>
            <a:ext cx="3840480" cy="45720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800600" y="223113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Monitor → Actual Tx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6883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8AA"/>
                </a:solidFill>
              </a:rPr>
              <a:t>▼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00600" y="2889504"/>
            <a:ext cx="384048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00600" y="28895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3337560"/>
            <a:ext cx="3840480" cy="411480"/>
          </a:xfrm>
          <a:prstGeom prst="rect">
            <a:avLst/>
          </a:prstGeom>
          <a:solidFill>
            <a:srgbClr val="EAF2FB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937760" y="33649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Address Integrity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00600" y="3840480"/>
            <a:ext cx="3840480" cy="411480"/>
          </a:xfrm>
          <a:prstGeom prst="rect">
            <a:avLst/>
          </a:prstGeom>
          <a:solidFill>
            <a:srgbClr val="EAF2FB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937760" y="38679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Integrity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00600" y="4343400"/>
            <a:ext cx="3840480" cy="411480"/>
          </a:xfrm>
          <a:prstGeom prst="rect">
            <a:avLst/>
          </a:prstGeom>
          <a:solidFill>
            <a:srgbClr val="EAF2FB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937760" y="43708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Response Integrity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Results – Write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572000" cy="38404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69848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Write → AHB Transaction 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365760" cy="36576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7512" y="1965960"/>
            <a:ext cx="36576" cy="256032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05840" y="15727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AWVALID + AWREADY (both 1)	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79222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Write Address Handshake –address accepted by the bridge 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240280"/>
            <a:ext cx="365760" cy="36576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7512" y="2606040"/>
            <a:ext cx="36576" cy="256032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05840" y="22128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WVALID + WREADY (both 1 )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4323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Write Data Handshake – data accepted by the bridge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880360"/>
            <a:ext cx="365760" cy="36576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246120"/>
            <a:ext cx="36576" cy="256032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005840" y="285292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HTRANS =2 , HADDR = AWADDR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307238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initiates AHB transfer – HTRANS =2 means NONSEQ, start of valid AHB transfer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520440"/>
            <a:ext cx="365760" cy="36576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" y="3886200"/>
            <a:ext cx="36576" cy="256032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05840" y="34930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WDATA = HWDATA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371246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translations is successful 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4160520"/>
            <a:ext cx="365760" cy="365760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292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1330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BRESP Returned &amp; HRESP Generated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43525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Write Response to master &amp; AHB Slave provides response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12080" y="1051560"/>
            <a:ext cx="3657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5212080" y="1051560"/>
            <a:ext cx="3657600" cy="384048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349240" y="106984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349240" y="1554480"/>
            <a:ext cx="3383280" cy="914400"/>
          </a:xfrm>
          <a:prstGeom prst="rect">
            <a:avLst/>
          </a:prstGeom>
          <a:solidFill>
            <a:srgbClr val="EDFAF4"/>
          </a:solidFill>
          <a:ln w="12700">
            <a:solidFill>
              <a:srgbClr val="9AE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486400" y="1600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Write Conversion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0" y="1874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conversion of AXI Write into AHB NONSEQ transfer verified.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349240" y="2606040"/>
            <a:ext cx="3383280" cy="914400"/>
          </a:xfrm>
          <a:prstGeom prst="rect">
            <a:avLst/>
          </a:prstGeom>
          <a:solidFill>
            <a:srgbClr val="EEF2FF"/>
          </a:solidFill>
          <a:ln w="12700">
            <a:solidFill>
              <a:srgbClr val="AAB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486400" y="2651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Protocol Timing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and data handshakes occur per protocol spec with proper phase sequencing.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49240" y="3657600"/>
            <a:ext cx="3383280" cy="914400"/>
          </a:xfrm>
          <a:prstGeom prst="rect">
            <a:avLst/>
          </a:prstGeom>
          <a:solidFill>
            <a:srgbClr val="FFF8EE"/>
          </a:solidFill>
          <a:ln w="12700">
            <a:solidFill>
              <a:srgbClr val="FFD5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486400" y="3703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Response Path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0" y="3977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BRESP correctly returned to AXI master after AHB HRESP observed.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Results </a:t>
            </a:r>
            <a:endParaRPr lang="en-US" sz="28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C5B3660-733A-0A09-CE6C-8A1EE3456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79" y="872011"/>
            <a:ext cx="8942953" cy="41800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" y="0"/>
            <a:ext cx="896112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1148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069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Challenges Faced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3840480" cy="438912"/>
          </a:xfrm>
          <a:prstGeom prst="rect">
            <a:avLst/>
          </a:prstGeom>
          <a:solidFill>
            <a:srgbClr val="FEF0EF"/>
          </a:solidFill>
          <a:ln w="6350">
            <a:solidFill>
              <a:srgbClr val="E8C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8368" y="160934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Configuration Database Issues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C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02920" y="2103120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8368" y="2139696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Sequencer Connections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8368" y="267004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Agents Configuration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163824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C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02920" y="3163824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8368" y="320040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Configuration Propagation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694176"/>
            <a:ext cx="3840480" cy="438912"/>
          </a:xfrm>
          <a:prstGeom prst="rect">
            <a:avLst/>
          </a:prstGeom>
          <a:solidFill>
            <a:srgbClr val="FEF0EF"/>
          </a:solidFill>
          <a:ln w="6350">
            <a:solidFill>
              <a:srgbClr val="E8C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2920" y="3694176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58368" y="3730752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Scoreboard Synchronization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4224528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8C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02920" y="4224528"/>
            <a:ext cx="64008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58368" y="4261104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Protocol Timing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05156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63440" y="1051560"/>
            <a:ext cx="4114800" cy="411480"/>
          </a:xfrm>
          <a:prstGeom prst="rect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00600" y="10698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Key Learnings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00600" y="1572768"/>
            <a:ext cx="3840480" cy="685800"/>
          </a:xfrm>
          <a:prstGeom prst="rect">
            <a:avLst/>
          </a:prstGeom>
          <a:solidFill>
            <a:srgbClr val="EDFAF4"/>
          </a:solidFill>
          <a:ln w="12700">
            <a:solidFill>
              <a:srgbClr val="9AE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92040" y="1664208"/>
            <a:ext cx="274320" cy="274320"/>
          </a:xfrm>
          <a:prstGeom prst="ellipse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257800" y="16459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Protocol Internals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2395728"/>
            <a:ext cx="3840480" cy="685800"/>
          </a:xfrm>
          <a:prstGeom prst="rect">
            <a:avLst/>
          </a:prstGeom>
          <a:solidFill>
            <a:srgbClr val="EDFAF4"/>
          </a:solidFill>
          <a:ln w="12700">
            <a:solidFill>
              <a:srgbClr val="9AE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892040" y="2487168"/>
            <a:ext cx="274320" cy="274320"/>
          </a:xfrm>
          <a:prstGeom prst="ellipse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257800" y="24688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AHB Protocol Internals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3218688"/>
            <a:ext cx="3840480" cy="685800"/>
          </a:xfrm>
          <a:prstGeom prst="rect">
            <a:avLst/>
          </a:prstGeom>
          <a:solidFill>
            <a:srgbClr val="EDFAF4"/>
          </a:solidFill>
          <a:ln w="12700">
            <a:solidFill>
              <a:srgbClr val="9AE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92040" y="3310128"/>
            <a:ext cx="274320" cy="274320"/>
          </a:xfrm>
          <a:prstGeom prst="ellipse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257800" y="329184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UVM Architecture &amp; Flow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00600" y="4041648"/>
            <a:ext cx="3840480" cy="685800"/>
          </a:xfrm>
          <a:prstGeom prst="rect">
            <a:avLst/>
          </a:prstGeom>
          <a:solidFill>
            <a:srgbClr val="EDFAF4"/>
          </a:solidFill>
          <a:ln w="12700">
            <a:solidFill>
              <a:srgbClr val="9AE0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892040" y="4133088"/>
            <a:ext cx="274320" cy="274320"/>
          </a:xfrm>
          <a:prstGeom prst="ellipse">
            <a:avLst/>
          </a:prstGeom>
          <a:solidFill>
            <a:srgbClr val="1A7A50"/>
          </a:solidFill>
          <a:ln w="12700">
            <a:solidFill>
              <a:srgbClr val="1A7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257800" y="41148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Verification Flow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274320" y="4389120"/>
            <a:ext cx="8869680" cy="7543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3200400" cy="36576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143000"/>
            <a:ext cx="201168" cy="201168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111556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UVM Verification Environment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201168" cy="201168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68680" y="161848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AXI to AHB transaction conversion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201168" cy="201168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212140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reset, write, read, wait-state &amp; error scenarios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201168" cy="201168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68680" y="262432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monitors, drivers, sequencers &amp; scoreboard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201168" cy="201168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68680" y="312724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protocol-level waveforms validating bridge functionality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502920"/>
          </a:xfrm>
          <a:prstGeom prst="rect">
            <a:avLst/>
          </a:prstGeom>
          <a:solidFill>
            <a:srgbClr val="1B4F8A">
              <a:alpha val="70000"/>
            </a:srgbClr>
          </a:solidFill>
          <a:ln w="12700">
            <a:solidFill>
              <a:srgbClr val="00A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" y="373075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Regress Functional Coverage  • All possible SVA Assertions  •  Corner Case Testing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4622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738</Words>
  <Application>Microsoft Office PowerPoint</Application>
  <PresentationFormat>On-screen Show (16:9)</PresentationFormat>
  <Paragraphs>180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Verification of AXI to AHB Bridge using UVM</dc:title>
  <dc:subject>PptxGenJS Presentation</dc:subject>
  <dc:creator>Sushant Gautam</dc:creator>
  <cp:lastModifiedBy>SUSHANT GAUTAM</cp:lastModifiedBy>
  <cp:revision>2</cp:revision>
  <dcterms:created xsi:type="dcterms:W3CDTF">2026-05-30T14:52:51Z</dcterms:created>
  <dcterms:modified xsi:type="dcterms:W3CDTF">2026-05-31T17:49:24Z</dcterms:modified>
</cp:coreProperties>
</file>